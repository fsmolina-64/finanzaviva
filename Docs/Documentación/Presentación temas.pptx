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834CB-2483-41F1-A739-094549787837}" type="doc">
      <dgm:prSet loTypeId="urn:microsoft.com/office/officeart/2005/8/layout/radial4" loCatId="relationship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0F7950AA-5E3D-4D2C-AC42-CD51C33E2EA8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¿Cómo influye una aplicación web gamificada en  el fortalecimiento de las capacidades de ahorro y gestion financiera en jóvenes de 18 a 25 años?</a:t>
          </a:r>
          <a:endParaRPr lang="es-EC" dirty="0"/>
        </a:p>
      </dgm:t>
    </dgm:pt>
    <dgm:pt modelId="{919DCA8B-2669-49AE-AD51-844CE92161BD}" type="parTrans" cxnId="{08838615-81DF-42E3-B52F-E4C3911F1ED7}">
      <dgm:prSet/>
      <dgm:spPr/>
      <dgm:t>
        <a:bodyPr/>
        <a:lstStyle/>
        <a:p>
          <a:endParaRPr lang="es-EC"/>
        </a:p>
      </dgm:t>
    </dgm:pt>
    <dgm:pt modelId="{582BCB74-8235-46B9-AF02-54F59920BCEE}" type="sibTrans" cxnId="{08838615-81DF-42E3-B52F-E4C3911F1ED7}">
      <dgm:prSet/>
      <dgm:spPr/>
      <dgm:t>
        <a:bodyPr/>
        <a:lstStyle/>
        <a:p>
          <a:endParaRPr lang="es-EC"/>
        </a:p>
      </dgm:t>
    </dgm:pt>
    <dgm:pt modelId="{7FBC8BF7-1CB0-4A88-8E77-31616A1CE5BF}">
      <dgm:prSet phldrT="[Text]" custT="1"/>
      <dgm:spPr/>
      <dgm:t>
        <a:bodyPr/>
        <a:lstStyle/>
        <a:p>
          <a:pPr>
            <a:buNone/>
          </a:pPr>
          <a:r>
            <a:rPr lang="en-US" sz="1800" kern="1200" dirty="0">
              <a:latin typeface="Arial"/>
              <a:ea typeface="+mn-ea"/>
              <a:cs typeface="+mn-cs"/>
            </a:rPr>
            <a:t>Alfabetización financiera</a:t>
          </a:r>
          <a:endParaRPr lang="es-EC" sz="1800" kern="1200" dirty="0">
            <a:latin typeface="Arial"/>
            <a:ea typeface="+mn-ea"/>
            <a:cs typeface="+mn-cs"/>
          </a:endParaRPr>
        </a:p>
      </dgm:t>
    </dgm:pt>
    <dgm:pt modelId="{05248656-0610-4646-9BC4-D1E40B2C95FC}" type="parTrans" cxnId="{08D8E2F5-6E15-468D-BBF5-D63B4A2D4923}">
      <dgm:prSet/>
      <dgm:spPr/>
      <dgm:t>
        <a:bodyPr/>
        <a:lstStyle/>
        <a:p>
          <a:endParaRPr lang="es-EC"/>
        </a:p>
      </dgm:t>
    </dgm:pt>
    <dgm:pt modelId="{73817725-4C4A-4653-9D1A-A581A3A186C2}" type="sibTrans" cxnId="{08D8E2F5-6E15-468D-BBF5-D63B4A2D4923}">
      <dgm:prSet/>
      <dgm:spPr/>
      <dgm:t>
        <a:bodyPr/>
        <a:lstStyle/>
        <a:p>
          <a:endParaRPr lang="es-EC"/>
        </a:p>
      </dgm:t>
    </dgm:pt>
    <dgm:pt modelId="{3A672996-171D-43F7-A85F-D363A94F8DCB}">
      <dgm:prSet phldrT="[Text]" custT="1"/>
      <dgm:spPr/>
      <dgm:t>
        <a:bodyPr/>
        <a:lstStyle/>
        <a:p>
          <a:r>
            <a:rPr lang="es-EC" sz="1800" kern="1200" dirty="0">
              <a:latin typeface="Arial"/>
              <a:ea typeface="+mn-ea"/>
              <a:cs typeface="+mn-cs"/>
            </a:rPr>
            <a:t>Problematica</a:t>
          </a:r>
          <a:endParaRPr lang="es-EC" sz="2000" kern="1200" dirty="0">
            <a:latin typeface="Arial"/>
            <a:ea typeface="+mn-ea"/>
            <a:cs typeface="+mn-cs"/>
          </a:endParaRPr>
        </a:p>
      </dgm:t>
    </dgm:pt>
    <dgm:pt modelId="{62747C38-2D8C-4AC1-836F-7E64B44828B4}" type="parTrans" cxnId="{970BC359-758D-4B4A-8A75-A4B116DFC941}">
      <dgm:prSet/>
      <dgm:spPr/>
      <dgm:t>
        <a:bodyPr/>
        <a:lstStyle/>
        <a:p>
          <a:endParaRPr lang="es-EC"/>
        </a:p>
      </dgm:t>
    </dgm:pt>
    <dgm:pt modelId="{3EA2A978-6497-4071-9B91-DC394AF6B18E}" type="sibTrans" cxnId="{970BC359-758D-4B4A-8A75-A4B116DFC941}">
      <dgm:prSet/>
      <dgm:spPr/>
      <dgm:t>
        <a:bodyPr/>
        <a:lstStyle/>
        <a:p>
          <a:endParaRPr lang="es-EC"/>
        </a:p>
      </dgm:t>
    </dgm:pt>
    <dgm:pt modelId="{80737B3F-4235-4581-833E-65A54E39FEA9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ea typeface="+mn-ea"/>
              <a:cs typeface="+mn-cs"/>
            </a:rPr>
            <a:t>Gamificación</a:t>
          </a:r>
          <a:endParaRPr lang="es-EC" sz="1800" kern="1200" dirty="0">
            <a:latin typeface="Arial"/>
            <a:ea typeface="+mn-ea"/>
            <a:cs typeface="+mn-cs"/>
          </a:endParaRPr>
        </a:p>
      </dgm:t>
    </dgm:pt>
    <dgm:pt modelId="{D0B83E2F-779E-4A14-ABFF-175F1597E953}" type="parTrans" cxnId="{7ADF7262-0741-4E32-97E5-477840AAC1D4}">
      <dgm:prSet/>
      <dgm:spPr/>
      <dgm:t>
        <a:bodyPr/>
        <a:lstStyle/>
        <a:p>
          <a:endParaRPr lang="es-EC"/>
        </a:p>
      </dgm:t>
    </dgm:pt>
    <dgm:pt modelId="{0E4DEB67-B2E4-4C69-B7CF-3C1F6EB48C64}" type="sibTrans" cxnId="{7ADF7262-0741-4E32-97E5-477840AAC1D4}">
      <dgm:prSet/>
      <dgm:spPr/>
      <dgm:t>
        <a:bodyPr/>
        <a:lstStyle/>
        <a:p>
          <a:endParaRPr lang="es-EC"/>
        </a:p>
      </dgm:t>
    </dgm:pt>
    <dgm:pt modelId="{6312AA47-9C07-4C09-9623-7E6173993985}" type="pres">
      <dgm:prSet presAssocID="{031834CB-2483-41F1-A739-09454978783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8466CC0-9CED-435F-B1FD-11413AB81FFF}" type="pres">
      <dgm:prSet presAssocID="{0F7950AA-5E3D-4D2C-AC42-CD51C33E2EA8}" presName="centerShape" presStyleLbl="node0" presStyleIdx="0" presStyleCnt="1" custScaleX="140451" custScaleY="138870" custLinFactNeighborX="276" custLinFactNeighborY="1266"/>
      <dgm:spPr/>
    </dgm:pt>
    <dgm:pt modelId="{C0B9D31B-CE66-46E2-B0E7-4564B4E1EFEA}" type="pres">
      <dgm:prSet presAssocID="{05248656-0610-4646-9BC4-D1E40B2C95FC}" presName="parTrans" presStyleLbl="bgSibTrans2D1" presStyleIdx="0" presStyleCnt="3"/>
      <dgm:spPr/>
    </dgm:pt>
    <dgm:pt modelId="{05B832F2-9C07-4FB9-85AB-A7238764CCAD}" type="pres">
      <dgm:prSet presAssocID="{7FBC8BF7-1CB0-4A88-8E77-31616A1CE5BF}" presName="node" presStyleLbl="node1" presStyleIdx="0" presStyleCnt="3" custScaleX="95180" custScaleY="81307" custRadScaleRad="130960" custRadScaleInc="-11237">
        <dgm:presLayoutVars>
          <dgm:bulletEnabled val="1"/>
        </dgm:presLayoutVars>
      </dgm:prSet>
      <dgm:spPr/>
    </dgm:pt>
    <dgm:pt modelId="{C98E0A30-0367-4886-8E98-52DA6FC666DC}" type="pres">
      <dgm:prSet presAssocID="{62747C38-2D8C-4AC1-836F-7E64B44828B4}" presName="parTrans" presStyleLbl="bgSibTrans2D1" presStyleIdx="1" presStyleCnt="3"/>
      <dgm:spPr/>
    </dgm:pt>
    <dgm:pt modelId="{78F04367-C57D-4EF3-98BD-87F539110089}" type="pres">
      <dgm:prSet presAssocID="{3A672996-171D-43F7-A85F-D363A94F8DCB}" presName="node" presStyleLbl="node1" presStyleIdx="1" presStyleCnt="3" custScaleX="82932" custScaleY="63849">
        <dgm:presLayoutVars>
          <dgm:bulletEnabled val="1"/>
        </dgm:presLayoutVars>
      </dgm:prSet>
      <dgm:spPr/>
    </dgm:pt>
    <dgm:pt modelId="{881F2369-4B7A-4892-B3E0-FFE8FEDEAF65}" type="pres">
      <dgm:prSet presAssocID="{D0B83E2F-779E-4A14-ABFF-175F1597E953}" presName="parTrans" presStyleLbl="bgSibTrans2D1" presStyleIdx="2" presStyleCnt="3"/>
      <dgm:spPr/>
    </dgm:pt>
    <dgm:pt modelId="{EEC75C33-3236-435D-8B07-4E3C0BD4E0B0}" type="pres">
      <dgm:prSet presAssocID="{80737B3F-4235-4581-833E-65A54E39FEA9}" presName="node" presStyleLbl="node1" presStyleIdx="2" presStyleCnt="3" custScaleX="90827" custScaleY="76858" custRadScaleRad="125141" custRadScaleInc="11264">
        <dgm:presLayoutVars>
          <dgm:bulletEnabled val="1"/>
        </dgm:presLayoutVars>
      </dgm:prSet>
      <dgm:spPr/>
    </dgm:pt>
  </dgm:ptLst>
  <dgm:cxnLst>
    <dgm:cxn modelId="{08838615-81DF-42E3-B52F-E4C3911F1ED7}" srcId="{031834CB-2483-41F1-A739-094549787837}" destId="{0F7950AA-5E3D-4D2C-AC42-CD51C33E2EA8}" srcOrd="0" destOrd="0" parTransId="{919DCA8B-2669-49AE-AD51-844CE92161BD}" sibTransId="{582BCB74-8235-46B9-AF02-54F59920BCEE}"/>
    <dgm:cxn modelId="{7ADF7262-0741-4E32-97E5-477840AAC1D4}" srcId="{0F7950AA-5E3D-4D2C-AC42-CD51C33E2EA8}" destId="{80737B3F-4235-4581-833E-65A54E39FEA9}" srcOrd="2" destOrd="0" parTransId="{D0B83E2F-779E-4A14-ABFF-175F1597E953}" sibTransId="{0E4DEB67-B2E4-4C69-B7CF-3C1F6EB48C64}"/>
    <dgm:cxn modelId="{1245E662-6007-4F18-9CB8-2D52338FE042}" type="presOf" srcId="{031834CB-2483-41F1-A739-094549787837}" destId="{6312AA47-9C07-4C09-9623-7E6173993985}" srcOrd="0" destOrd="0" presId="urn:microsoft.com/office/officeart/2005/8/layout/radial4"/>
    <dgm:cxn modelId="{51171144-6C9F-47B6-B605-C36CD8E6D09A}" type="presOf" srcId="{62747C38-2D8C-4AC1-836F-7E64B44828B4}" destId="{C98E0A30-0367-4886-8E98-52DA6FC666DC}" srcOrd="0" destOrd="0" presId="urn:microsoft.com/office/officeart/2005/8/layout/radial4"/>
    <dgm:cxn modelId="{B46AEF45-75A1-4DD4-92F9-ACF39B8FF6BF}" type="presOf" srcId="{05248656-0610-4646-9BC4-D1E40B2C95FC}" destId="{C0B9D31B-CE66-46E2-B0E7-4564B4E1EFEA}" srcOrd="0" destOrd="0" presId="urn:microsoft.com/office/officeart/2005/8/layout/radial4"/>
    <dgm:cxn modelId="{1FEAD56C-877D-4C37-9E91-6723345AC2CC}" type="presOf" srcId="{0F7950AA-5E3D-4D2C-AC42-CD51C33E2EA8}" destId="{08466CC0-9CED-435F-B1FD-11413AB81FFF}" srcOrd="0" destOrd="0" presId="urn:microsoft.com/office/officeart/2005/8/layout/radial4"/>
    <dgm:cxn modelId="{E017F473-5C68-4992-924E-074E02422CAD}" type="presOf" srcId="{7FBC8BF7-1CB0-4A88-8E77-31616A1CE5BF}" destId="{05B832F2-9C07-4FB9-85AB-A7238764CCAD}" srcOrd="0" destOrd="0" presId="urn:microsoft.com/office/officeart/2005/8/layout/radial4"/>
    <dgm:cxn modelId="{970BC359-758D-4B4A-8A75-A4B116DFC941}" srcId="{0F7950AA-5E3D-4D2C-AC42-CD51C33E2EA8}" destId="{3A672996-171D-43F7-A85F-D363A94F8DCB}" srcOrd="1" destOrd="0" parTransId="{62747C38-2D8C-4AC1-836F-7E64B44828B4}" sibTransId="{3EA2A978-6497-4071-9B91-DC394AF6B18E}"/>
    <dgm:cxn modelId="{96C2697D-FC43-4C48-87D8-4C3975722645}" type="presOf" srcId="{3A672996-171D-43F7-A85F-D363A94F8DCB}" destId="{78F04367-C57D-4EF3-98BD-87F539110089}" srcOrd="0" destOrd="0" presId="urn:microsoft.com/office/officeart/2005/8/layout/radial4"/>
    <dgm:cxn modelId="{8DC5B688-0DDB-4F1E-9459-134A73C76BE2}" type="presOf" srcId="{80737B3F-4235-4581-833E-65A54E39FEA9}" destId="{EEC75C33-3236-435D-8B07-4E3C0BD4E0B0}" srcOrd="0" destOrd="0" presId="urn:microsoft.com/office/officeart/2005/8/layout/radial4"/>
    <dgm:cxn modelId="{E855C5DD-6A25-4024-A369-EC589F51FEB3}" type="presOf" srcId="{D0B83E2F-779E-4A14-ABFF-175F1597E953}" destId="{881F2369-4B7A-4892-B3E0-FFE8FEDEAF65}" srcOrd="0" destOrd="0" presId="urn:microsoft.com/office/officeart/2005/8/layout/radial4"/>
    <dgm:cxn modelId="{08D8E2F5-6E15-468D-BBF5-D63B4A2D4923}" srcId="{0F7950AA-5E3D-4D2C-AC42-CD51C33E2EA8}" destId="{7FBC8BF7-1CB0-4A88-8E77-31616A1CE5BF}" srcOrd="0" destOrd="0" parTransId="{05248656-0610-4646-9BC4-D1E40B2C95FC}" sibTransId="{73817725-4C4A-4653-9D1A-A581A3A186C2}"/>
    <dgm:cxn modelId="{2C5829B6-5ED9-4621-9548-651BD2A7CA65}" type="presParOf" srcId="{6312AA47-9C07-4C09-9623-7E6173993985}" destId="{08466CC0-9CED-435F-B1FD-11413AB81FFF}" srcOrd="0" destOrd="0" presId="urn:microsoft.com/office/officeart/2005/8/layout/radial4"/>
    <dgm:cxn modelId="{040E18EF-8E21-4E0A-B6C5-1557FFE8B767}" type="presParOf" srcId="{6312AA47-9C07-4C09-9623-7E6173993985}" destId="{C0B9D31B-CE66-46E2-B0E7-4564B4E1EFEA}" srcOrd="1" destOrd="0" presId="urn:microsoft.com/office/officeart/2005/8/layout/radial4"/>
    <dgm:cxn modelId="{E1C31CCA-CC53-4C60-BCBB-CC17FF43AEB8}" type="presParOf" srcId="{6312AA47-9C07-4C09-9623-7E6173993985}" destId="{05B832F2-9C07-4FB9-85AB-A7238764CCAD}" srcOrd="2" destOrd="0" presId="urn:microsoft.com/office/officeart/2005/8/layout/radial4"/>
    <dgm:cxn modelId="{4A29880D-8FB6-4A3D-9721-44607E2E8361}" type="presParOf" srcId="{6312AA47-9C07-4C09-9623-7E6173993985}" destId="{C98E0A30-0367-4886-8E98-52DA6FC666DC}" srcOrd="3" destOrd="0" presId="urn:microsoft.com/office/officeart/2005/8/layout/radial4"/>
    <dgm:cxn modelId="{4E5E9264-6E25-4E99-BF91-3A906BA09D3B}" type="presParOf" srcId="{6312AA47-9C07-4C09-9623-7E6173993985}" destId="{78F04367-C57D-4EF3-98BD-87F539110089}" srcOrd="4" destOrd="0" presId="urn:microsoft.com/office/officeart/2005/8/layout/radial4"/>
    <dgm:cxn modelId="{A3CA0C4D-E790-46B1-8C02-B68F8352C090}" type="presParOf" srcId="{6312AA47-9C07-4C09-9623-7E6173993985}" destId="{881F2369-4B7A-4892-B3E0-FFE8FEDEAF65}" srcOrd="5" destOrd="0" presId="urn:microsoft.com/office/officeart/2005/8/layout/radial4"/>
    <dgm:cxn modelId="{E34E679E-1361-403F-A5E5-A9BD3CD62AED}" type="presParOf" srcId="{6312AA47-9C07-4C09-9623-7E6173993985}" destId="{EEC75C33-3236-435D-8B07-4E3C0BD4E0B0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66CC0-9CED-435F-B1FD-11413AB81FFF}">
      <dsp:nvSpPr>
        <dsp:cNvPr id="0" name=""/>
        <dsp:cNvSpPr/>
      </dsp:nvSpPr>
      <dsp:spPr>
        <a:xfrm>
          <a:off x="3164468" y="1581024"/>
          <a:ext cx="2669174" cy="2639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¿Cómo influye una aplicación web gamificada en  el fortalecimiento de las capacidades de ahorro y gestion financiera en jóvenes de 18 a 25 años?</a:t>
          </a:r>
          <a:endParaRPr lang="es-EC" sz="1600" kern="1200" dirty="0"/>
        </a:p>
      </dsp:txBody>
      <dsp:txXfrm>
        <a:off x="3555359" y="1967515"/>
        <a:ext cx="1887392" cy="1866146"/>
      </dsp:txXfrm>
    </dsp:sp>
    <dsp:sp modelId="{C0B9D31B-CE66-46E2-B0E7-4564B4E1EFEA}">
      <dsp:nvSpPr>
        <dsp:cNvPr id="0" name=""/>
        <dsp:cNvSpPr/>
      </dsp:nvSpPr>
      <dsp:spPr>
        <a:xfrm rot="12488633">
          <a:off x="1501678" y="1517953"/>
          <a:ext cx="1837901" cy="541622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832F2-9C07-4FB9-85AB-A7238764CCAD}">
      <dsp:nvSpPr>
        <dsp:cNvPr id="0" name=""/>
        <dsp:cNvSpPr/>
      </dsp:nvSpPr>
      <dsp:spPr>
        <a:xfrm>
          <a:off x="751135" y="768138"/>
          <a:ext cx="1718388" cy="11743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ea typeface="+mn-ea"/>
              <a:cs typeface="+mn-cs"/>
            </a:rPr>
            <a:t>Alfabetización financiera</a:t>
          </a:r>
          <a:endParaRPr lang="es-EC" sz="1800" kern="1200" dirty="0">
            <a:latin typeface="Arial"/>
            <a:ea typeface="+mn-ea"/>
            <a:cs typeface="+mn-cs"/>
          </a:endParaRPr>
        </a:p>
      </dsp:txBody>
      <dsp:txXfrm>
        <a:off x="785530" y="802533"/>
        <a:ext cx="1649598" cy="1105549"/>
      </dsp:txXfrm>
    </dsp:sp>
    <dsp:sp modelId="{C98E0A30-0367-4886-8E98-52DA6FC666DC}">
      <dsp:nvSpPr>
        <dsp:cNvPr id="0" name=""/>
        <dsp:cNvSpPr/>
      </dsp:nvSpPr>
      <dsp:spPr>
        <a:xfrm rot="16181024">
          <a:off x="3934211" y="691592"/>
          <a:ext cx="1108291" cy="541622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04367-C57D-4EF3-98BD-87F539110089}">
      <dsp:nvSpPr>
        <dsp:cNvPr id="0" name=""/>
        <dsp:cNvSpPr/>
      </dsp:nvSpPr>
      <dsp:spPr>
        <a:xfrm>
          <a:off x="3736667" y="-52827"/>
          <a:ext cx="1497262" cy="9221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>
              <a:latin typeface="Arial"/>
              <a:ea typeface="+mn-ea"/>
              <a:cs typeface="+mn-cs"/>
            </a:rPr>
            <a:t>Problematica</a:t>
          </a:r>
          <a:endParaRPr lang="es-EC" sz="2000" kern="1200" dirty="0">
            <a:latin typeface="Arial"/>
            <a:ea typeface="+mn-ea"/>
            <a:cs typeface="+mn-cs"/>
          </a:endParaRPr>
        </a:p>
      </dsp:txBody>
      <dsp:txXfrm>
        <a:off x="3763677" y="-25817"/>
        <a:ext cx="1443242" cy="868168"/>
      </dsp:txXfrm>
    </dsp:sp>
    <dsp:sp modelId="{881F2369-4B7A-4892-B3E0-FFE8FEDEAF65}">
      <dsp:nvSpPr>
        <dsp:cNvPr id="0" name=""/>
        <dsp:cNvSpPr/>
      </dsp:nvSpPr>
      <dsp:spPr>
        <a:xfrm rot="19898301">
          <a:off x="5655656" y="1552487"/>
          <a:ext cx="1677990" cy="541622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75C33-3236-435D-8B07-4E3C0BD4E0B0}">
      <dsp:nvSpPr>
        <dsp:cNvPr id="0" name=""/>
        <dsp:cNvSpPr/>
      </dsp:nvSpPr>
      <dsp:spPr>
        <a:xfrm>
          <a:off x="6413039" y="869706"/>
          <a:ext cx="1639799" cy="1110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ea typeface="+mn-ea"/>
              <a:cs typeface="+mn-cs"/>
            </a:rPr>
            <a:t>Gamificación</a:t>
          </a:r>
          <a:endParaRPr lang="es-EC" sz="1800" kern="1200" dirty="0">
            <a:latin typeface="Arial"/>
            <a:ea typeface="+mn-ea"/>
            <a:cs typeface="+mn-cs"/>
          </a:endParaRPr>
        </a:p>
      </dsp:txBody>
      <dsp:txXfrm>
        <a:off x="6445552" y="902219"/>
        <a:ext cx="1574773" cy="1045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c93c56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c93c56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c93c565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c93c565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c93c565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c93c565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c93c565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c93c565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c93c56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c93c56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c93c565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c93c565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c93c565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c93c565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c93c565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c93c565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FinanzaViva</a:t>
            </a:r>
            <a:r>
              <a:rPr lang="es-ES" dirty="0"/>
              <a:t> Educación Financiera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Jonnathan Villa y Felipe Molina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699" y="1152474"/>
            <a:ext cx="8928893" cy="3735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" b="1" dirty="0"/>
              <a:t>Aplicacion web gamificada </a:t>
            </a:r>
            <a:endParaRPr lang="en-US" b="1" dirty="0"/>
          </a:p>
          <a:p>
            <a:pPr marL="0" indent="0">
              <a:buNone/>
            </a:pPr>
            <a:r>
              <a:rPr lang="es-ES" dirty="0"/>
              <a:t>Fortalecer la educación financiera y los hábitos de gestión económica en jóvenes mediante hábitos diarios, simuladores y seguimiento financiero.</a:t>
            </a:r>
          </a:p>
          <a:p>
            <a:pPr marL="0" indent="0">
              <a:buNone/>
            </a:pPr>
            <a:endParaRPr lang="es-EC" b="1" dirty="0"/>
          </a:p>
          <a:p>
            <a:pPr marL="0" indent="0">
              <a:buNone/>
            </a:pPr>
            <a:r>
              <a:rPr lang="es-EC" b="1" dirty="0"/>
              <a:t>Componentes Centrales                                                                                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s-ES" dirty="0"/>
              <a:t>1. Gestor de Finanzas Personales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s-EC" dirty="0"/>
              <a:t>2. Simulador Financiero </a:t>
            </a:r>
            <a:r>
              <a:rPr lang="es-EC" dirty="0" err="1"/>
              <a:t>Gamificado</a:t>
            </a:r>
            <a:br>
              <a:rPr lang="es-ES" dirty="0"/>
            </a:br>
            <a:br>
              <a:rPr lang="es-ES" dirty="0"/>
            </a:br>
            <a:r>
              <a:rPr lang="es-EC" dirty="0"/>
              <a:t>3. Academia Financiera Interactiva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-US" dirty="0"/>
              <a:t>4. Sistema de </a:t>
            </a:r>
            <a:r>
              <a:rPr lang="en-US" dirty="0" err="1"/>
              <a:t>Gamificación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Teorias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338225" y="1171793"/>
            <a:ext cx="26520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C" sz="1600" b="1" dirty="0"/>
              <a:t>Alfabetización Financiera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6853906" y="1166199"/>
            <a:ext cx="1501948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C" sz="1600" b="1" dirty="0"/>
              <a:t>Gamificación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246000" y="4181509"/>
            <a:ext cx="2652000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s-EC" sz="1000" dirty="0">
                <a:latin typeface="Times New Roman" panose="02020603050405020304" pitchFamily="18" charset="0"/>
              </a:rPr>
              <a:t>(OCDE, 2020)</a:t>
            </a:r>
            <a:endParaRPr sz="1000" dirty="0">
              <a:latin typeface="Times New Roman" panose="02020603050405020304" pitchFamily="18" charset="0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6427413" y="4133350"/>
            <a:ext cx="1403036" cy="5253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C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(Dewey, 1938)</a:t>
            </a:r>
            <a:endParaRPr sz="1000" dirty="0"/>
          </a:p>
        </p:txBody>
      </p:sp>
      <p:sp>
        <p:nvSpPr>
          <p:cNvPr id="3" name="Google Shape;69;p15">
            <a:extLst>
              <a:ext uri="{FF2B5EF4-FFF2-40B4-BE49-F238E27FC236}">
                <a16:creationId xmlns:a16="http://schemas.microsoft.com/office/drawing/2014/main" id="{BA23B032-9172-A6D1-B579-37BCEB3DE21D}"/>
              </a:ext>
            </a:extLst>
          </p:cNvPr>
          <p:cNvSpPr txBox="1">
            <a:spLocks/>
          </p:cNvSpPr>
          <p:nvPr/>
        </p:nvSpPr>
        <p:spPr>
          <a:xfrm>
            <a:off x="784039" y="1166199"/>
            <a:ext cx="2652000" cy="7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es-EC" sz="1600" b="1" dirty="0"/>
              <a:t>Simulaciones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1D4582-8EBE-D6F0-C002-9AE6B7D4CD7C}"/>
              </a:ext>
            </a:extLst>
          </p:cNvPr>
          <p:cNvCxnSpPr>
            <a:cxnSpLocks/>
          </p:cNvCxnSpPr>
          <p:nvPr/>
        </p:nvCxnSpPr>
        <p:spPr>
          <a:xfrm>
            <a:off x="7662556" y="3039553"/>
            <a:ext cx="0" cy="4392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66;p15">
            <a:extLst>
              <a:ext uri="{FF2B5EF4-FFF2-40B4-BE49-F238E27FC236}">
                <a16:creationId xmlns:a16="http://schemas.microsoft.com/office/drawing/2014/main" id="{A84AAD87-2403-326A-0EA8-1E3E59D95A26}"/>
              </a:ext>
            </a:extLst>
          </p:cNvPr>
          <p:cNvSpPr txBox="1">
            <a:spLocks/>
          </p:cNvSpPr>
          <p:nvPr/>
        </p:nvSpPr>
        <p:spPr>
          <a:xfrm>
            <a:off x="6427413" y="3373706"/>
            <a:ext cx="2570404" cy="33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C" sz="1200" dirty="0">
                <a:latin typeface="+mj-lt"/>
              </a:rPr>
              <a:t>El conocimiento debe ser útil y aplicable a la vida diaria del </a:t>
            </a:r>
            <a:r>
              <a:rPr lang="es-EC" sz="1200" dirty="0" err="1">
                <a:latin typeface="+mj-lt"/>
              </a:rPr>
              <a:t>indivuo</a:t>
            </a:r>
            <a:r>
              <a:rPr lang="es-EC" sz="1200" dirty="0">
                <a:latin typeface="+mj-lt"/>
              </a:rPr>
              <a:t>.</a:t>
            </a:r>
          </a:p>
        </p:txBody>
      </p:sp>
      <p:pic>
        <p:nvPicPr>
          <p:cNvPr id="1030" name="Picture 6" descr="Qué es la alfabetización financiera? - Santa Fe Casa de Valores S.A.">
            <a:extLst>
              <a:ext uri="{FF2B5EF4-FFF2-40B4-BE49-F238E27FC236}">
                <a16:creationId xmlns:a16="http://schemas.microsoft.com/office/drawing/2014/main" id="{8106F837-A012-F76E-BB14-4E741628B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090" y="1662980"/>
            <a:ext cx="2705025" cy="13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C8F35D-9A5D-09DF-F06D-8F324ED123B7}"/>
              </a:ext>
            </a:extLst>
          </p:cNvPr>
          <p:cNvCxnSpPr>
            <a:cxnSpLocks/>
            <a:stCxn id="1030" idx="2"/>
          </p:cNvCxnSpPr>
          <p:nvPr/>
        </p:nvCxnSpPr>
        <p:spPr>
          <a:xfrm flipH="1">
            <a:off x="4633602" y="3052593"/>
            <a:ext cx="1" cy="4261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66;p15">
            <a:extLst>
              <a:ext uri="{FF2B5EF4-FFF2-40B4-BE49-F238E27FC236}">
                <a16:creationId xmlns:a16="http://schemas.microsoft.com/office/drawing/2014/main" id="{930869C5-769E-765C-EDDB-9F4292A8956F}"/>
              </a:ext>
            </a:extLst>
          </p:cNvPr>
          <p:cNvSpPr txBox="1">
            <a:spLocks/>
          </p:cNvSpPr>
          <p:nvPr/>
        </p:nvSpPr>
        <p:spPr>
          <a:xfrm>
            <a:off x="3230027" y="3373705"/>
            <a:ext cx="2852227" cy="33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C" sz="1200" dirty="0"/>
              <a:t>Amplio conocimiento de finanzas es igual a buenas decisiones económicas.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B88524-3D00-CE5A-A51C-3AF0340D31E2}"/>
              </a:ext>
            </a:extLst>
          </p:cNvPr>
          <p:cNvCxnSpPr>
            <a:cxnSpLocks/>
          </p:cNvCxnSpPr>
          <p:nvPr/>
        </p:nvCxnSpPr>
        <p:spPr>
          <a:xfrm>
            <a:off x="1480988" y="3052593"/>
            <a:ext cx="0" cy="4261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Google Shape;73;p15">
            <a:extLst>
              <a:ext uri="{FF2B5EF4-FFF2-40B4-BE49-F238E27FC236}">
                <a16:creationId xmlns:a16="http://schemas.microsoft.com/office/drawing/2014/main" id="{5AA5E382-C603-CD27-C0D8-77966F8B3901}"/>
              </a:ext>
            </a:extLst>
          </p:cNvPr>
          <p:cNvSpPr txBox="1">
            <a:spLocks/>
          </p:cNvSpPr>
          <p:nvPr/>
        </p:nvSpPr>
        <p:spPr>
          <a:xfrm>
            <a:off x="388211" y="4190262"/>
            <a:ext cx="26520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es-EC" sz="1000" dirty="0"/>
              <a:t>(O'Donoghue &amp; Rabin, 1999)</a:t>
            </a:r>
            <a:endParaRPr lang="es-EC" sz="1000" dirty="0">
              <a:latin typeface="Times New Roman" panose="02020603050405020304" pitchFamily="18" charset="0"/>
            </a:endParaRPr>
          </a:p>
        </p:txBody>
      </p:sp>
      <p:sp>
        <p:nvSpPr>
          <p:cNvPr id="14" name="Google Shape;66;p15">
            <a:extLst>
              <a:ext uri="{FF2B5EF4-FFF2-40B4-BE49-F238E27FC236}">
                <a16:creationId xmlns:a16="http://schemas.microsoft.com/office/drawing/2014/main" id="{8A6A1B3A-0DF6-EBE9-072E-B2B5FC2E8FE0}"/>
              </a:ext>
            </a:extLst>
          </p:cNvPr>
          <p:cNvSpPr txBox="1">
            <a:spLocks/>
          </p:cNvSpPr>
          <p:nvPr/>
        </p:nvSpPr>
        <p:spPr>
          <a:xfrm>
            <a:off x="418563" y="3373986"/>
            <a:ext cx="2466305" cy="69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200" dirty="0"/>
              <a:t>Los adultos jóvenes tienden a priorizar las gratificaciones inmediatas sobre los beneficios a largo plazo</a:t>
            </a:r>
            <a:endParaRPr lang="es-EC" sz="1200" dirty="0"/>
          </a:p>
        </p:txBody>
      </p:sp>
      <p:pic>
        <p:nvPicPr>
          <p:cNvPr id="6" name="Picture 4" descr="Blog - Cultivando el conocimiento: El poder del Aprendizaje a lo Largo de  la Vida - Educación Chile - Registro ATE - Ministerio de Educación">
            <a:extLst>
              <a:ext uri="{FF2B5EF4-FFF2-40B4-BE49-F238E27FC236}">
                <a16:creationId xmlns:a16="http://schemas.microsoft.com/office/drawing/2014/main" id="{5267B43D-D4FB-F821-7C21-84AA32E10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6" y="1554399"/>
            <a:ext cx="1501945" cy="150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 Una Ilustración De Un Joven Sin Dinero. Ilustraciones svg, vectoriales,  clip art vectorizado libre de derechos. Image 171634765">
            <a:extLst>
              <a:ext uri="{FF2B5EF4-FFF2-40B4-BE49-F238E27FC236}">
                <a16:creationId xmlns:a16="http://schemas.microsoft.com/office/drawing/2014/main" id="{499E7DD3-2C68-1665-3476-79B57EE4B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8" y="1662980"/>
            <a:ext cx="2230208" cy="138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Problematica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6520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Adversidad 1 </a:t>
            </a:r>
            <a:r>
              <a:rPr lang="es-EC" b="1" dirty="0"/>
              <a:t>Analfabetismo Financiero</a:t>
            </a:r>
            <a:endParaRPr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338225" y="1156139"/>
            <a:ext cx="26520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Adversidad 2 </a:t>
            </a:r>
            <a:r>
              <a:rPr lang="es-EC" b="1" dirty="0"/>
              <a:t>Endeudamiento Juvenil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6180300" y="1117687"/>
            <a:ext cx="26520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 dirty="0"/>
              <a:t>Adversidad 3 </a:t>
            </a:r>
            <a:r>
              <a:rPr lang="es-EC" sz="1500" b="1" dirty="0"/>
              <a:t>Desinterés Pedagógico</a:t>
            </a:r>
            <a:endParaRPr sz="1500" dirty="0"/>
          </a:p>
        </p:txBody>
      </p:sp>
      <p:pic>
        <p:nvPicPr>
          <p:cNvPr id="2052" name="Picture 4" descr="Ahorrar es perder dinero – Matias Daghero">
            <a:extLst>
              <a:ext uri="{FF2B5EF4-FFF2-40B4-BE49-F238E27FC236}">
                <a16:creationId xmlns:a16="http://schemas.microsoft.com/office/drawing/2014/main" id="{A7632BCF-1EA5-0BD4-1BC7-7DE3347A5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25" y="2299727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grama de Educación Financiera en Ecuador – CURSOS EN ECUADOR">
            <a:extLst>
              <a:ext uri="{FF2B5EF4-FFF2-40B4-BE49-F238E27FC236}">
                <a16:creationId xmlns:a16="http://schemas.microsoft.com/office/drawing/2014/main" id="{7AB995FE-16A6-B200-DB3F-CC7278E4C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300" y="2204477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rédito fácil, deudas difíciles: falta de educación financiera genera  endeudamiento de jóvenes | Zona Docs">
            <a:extLst>
              <a:ext uri="{FF2B5EF4-FFF2-40B4-BE49-F238E27FC236}">
                <a16:creationId xmlns:a16="http://schemas.microsoft.com/office/drawing/2014/main" id="{AE2D35F6-0442-25F1-16D4-E330B4902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493" y="2070953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 del Arte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F0F0D-1ED6-34C2-81B7-4924F721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00" t="874" r="900" b="9005"/>
          <a:stretch/>
        </p:blipFill>
        <p:spPr>
          <a:xfrm>
            <a:off x="2620846" y="83713"/>
            <a:ext cx="5521491" cy="4976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Pregunta de investigación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684037E-8999-8052-9B29-D0A0B5D7D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856997"/>
              </p:ext>
            </p:extLst>
          </p:nvPr>
        </p:nvGraphicFramePr>
        <p:xfrm>
          <a:off x="92598" y="914400"/>
          <a:ext cx="8931302" cy="416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729269" cy="3838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" dirty="0"/>
              <a:t>General: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s-ES" dirty="0"/>
              <a:t>Desarrollar una aplicación web gamificada que fortalezca la alfabetización financiera y los hábitos de gestión económica en jóvenes de 18 a 25 años mediante simulaciones financieras, herramientas de control económico personal y mecánicas de aprendizaje interactivo.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Especificos:</a:t>
            </a: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s-ES" dirty="0"/>
              <a:t>Identificar las principales dificultades y deficiencias de educación financiera presentes en jóvenes de 18 a 25 años para determinar los contenidos y funcionalidades necesarias dentro de la aplicación.</a:t>
            </a: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s-ES" dirty="0"/>
              <a:t>Desarrollar un sistema web interactivo que integre gestión de gastos e ingresos, módulos educativos y simulaciones financieras gamificadas para promover hábitos económicos saludables.</a:t>
            </a: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s-ES" dirty="0"/>
              <a:t>Evaluar la usabilidad, efectividad y nivel de compromiso generado por la aplicación mediante pruebas funcionales y análisis de la experiencia del usuario durante el proceso de aprendizaje financiero.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Propuesta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E00FC7-EF8F-E227-43A9-678F4A0E1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2" t="18113" r="2894" b="5835"/>
          <a:stretch/>
        </p:blipFill>
        <p:spPr>
          <a:xfrm>
            <a:off x="1090501" y="1017725"/>
            <a:ext cx="6962997" cy="3760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Referencias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725620" cy="3838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Aparicio, F. (2023). La educación financiera en jóvenes universitarios.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Banco Central del Ecuador. (2022). Reporte de Inclusión Financiera.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Constitución de la República del Ecuador. (2008). Registro Oficial 449.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Hung, J. L., et al. (2021). Gamified e-learning in financial education.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Lusardi, A., &amp; Mitchell, O. (2014). The Economic Importance of Financial Literacy. Journal of Economic Literature.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OCDE. (2020). PISA 2018 Results: Are Students Smart about Money?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Thaler, R. H., &amp; Sunstein, C. R. (2008). Nudge: Improving Decisions About Health, Wealth, and Happiness.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Zainuddin, M., et al. (2020). Gamifying financial education: A study of Kahoot!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443</Words>
  <Application>Microsoft Office PowerPoint</Application>
  <PresentationFormat>On-screen Show (16:9)</PresentationFormat>
  <Paragraphs>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Simple Light</vt:lpstr>
      <vt:lpstr>FinanzaViva Educación Financiera</vt:lpstr>
      <vt:lpstr>Tema</vt:lpstr>
      <vt:lpstr>Teorias</vt:lpstr>
      <vt:lpstr>Problematica</vt:lpstr>
      <vt:lpstr>Estado del Arte</vt:lpstr>
      <vt:lpstr>Pregunta de investigación</vt:lpstr>
      <vt:lpstr>Objetivos</vt:lpstr>
      <vt:lpstr>Propuesta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</cp:lastModifiedBy>
  <cp:revision>10</cp:revision>
  <dcterms:modified xsi:type="dcterms:W3CDTF">2026-05-12T03:41:14Z</dcterms:modified>
</cp:coreProperties>
</file>